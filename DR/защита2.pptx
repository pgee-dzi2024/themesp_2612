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5" r:id="rId1"/>
  </p:sldMasterIdLst>
  <p:notesMasterIdLst>
    <p:notesMasterId r:id="rId13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2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717" autoAdjust="0"/>
  </p:normalViewPr>
  <p:slideViewPr>
    <p:cSldViewPr snapToGrid="0">
      <p:cViewPr varScale="1">
        <p:scale>
          <a:sx n="83" d="100"/>
          <a:sy n="83" d="100"/>
        </p:scale>
        <p:origin x="1638" y="84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990E4F-9C83-4A89-ADD9-4462A43A1979}" type="datetimeFigureOut">
              <a:rPr lang="bg-BG" smtClean="0"/>
              <a:t>14.5.2026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1A0737-17C7-403D-9CDA-79A13655FA6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72143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Уважаема</a:t>
            </a:r>
            <a:r>
              <a:rPr lang="bg-BG" baseline="0" dirty="0" smtClean="0"/>
              <a:t> г-жо Директор, Уважаема комисия. Аз съм Мартин Иванов. Темата на моя дипломен проект е „</a:t>
            </a: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bg-BG" sz="18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Управление на десктоп приложение през телефон</a:t>
            </a: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A0737-17C7-403D-9CDA-79A13655FA6F}" type="slidenum">
              <a:rPr lang="bg-BG" smtClean="0"/>
              <a:t>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51231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ерата на „Интернет на нещата“ (IoT) мобилните устройства се превръщат в универсални терминали за управление.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Проектът адресира нуждата от гъвкавост и удобство при работа с компютърни конфигурации от разстояние.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A0737-17C7-403D-9CDA-79A13655FA6F}" type="slidenum">
              <a:rPr lang="bg-BG" smtClean="0"/>
              <a:t>2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80101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Целта</a:t>
            </a:r>
            <a:r>
              <a:rPr lang="bg-BG" sz="1200" b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</a:t>
            </a:r>
            <a:r>
              <a:rPr lang="bg-BG" sz="1200" b="1" kern="1200" baseline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проекта е.</a:t>
            </a:r>
            <a:r>
              <a:rPr lang="bg-BG" sz="1200" b="1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Разработване </a:t>
            </a: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софтуерно решение, което позволява контрол над десктоп приложения без инсталация на допълнителен софтуер на мобилния телефон. </a:t>
            </a:r>
          </a:p>
          <a:p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Основен приоритет е използването на съществуващата Wi-Fi инфраструктура за максимална достъпност</a:t>
            </a:r>
            <a:endParaRPr lang="bg-BG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A0737-17C7-403D-9CDA-79A13655FA6F}" type="slidenum">
              <a:rPr lang="bg-BG" smtClean="0"/>
              <a:t>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67209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Процесът включва проектиране на стабилна сървърна архитектура и разработка на специализиран приложно-програмен интерфейс (API).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Фокусът е върху безпроблемната</a:t>
            </a:r>
            <a:r>
              <a:rPr lang="bg-BG" sz="1200" b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връзка</a:t>
            </a:r>
            <a:r>
              <a:rPr lang="bg-BG" sz="1200" b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 десктоп сървъра и мобилния потребителски интерфейс.</a:t>
            </a:r>
          </a:p>
          <a:p>
            <a:endParaRPr lang="bg-BG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A0737-17C7-403D-9CDA-79A13655FA6F}" type="slidenum">
              <a:rPr lang="bg-BG" smtClean="0"/>
              <a:t>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26627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Системата е изградена на принципа клиент-сървър, където десктоп приложението действа като хост.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Комуникацията се осъществява чрез стандартни мрежови протоколи, осигуряващи ниска латентност и бърза реакция.</a:t>
            </a:r>
          </a:p>
          <a:p>
            <a:endParaRPr lang="bg-BG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A0737-17C7-403D-9CDA-79A13655FA6F}" type="slidenum">
              <a:rPr lang="bg-BG" smtClean="0"/>
              <a:t>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11287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Интерфейсът е проектиран </a:t>
            </a:r>
            <a:r>
              <a:rPr lang="bg-BG" sz="1200" b="1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 бъде</a:t>
            </a:r>
            <a:r>
              <a:rPr lang="bg-BG" sz="1200" b="1" kern="1200" baseline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bg-BG" sz="1200" b="1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адаптивен</a:t>
            </a: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оптимизиран за работа през мобилен браузър.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Целта е потребителят да има пълен контрол върху основните функции на приложенията с минимални усилия.</a:t>
            </a:r>
          </a:p>
          <a:p>
            <a:endParaRPr lang="bg-BG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A0737-17C7-403D-9CDA-79A13655FA6F}" type="slidenum">
              <a:rPr lang="bg-BG" smtClean="0"/>
              <a:t>6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993174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Използвани са съвременни езици за програмиране и технологии за мрежова комуникация, подходящи за работа в реално време.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Изборът</a:t>
            </a:r>
            <a:r>
              <a:rPr lang="bg-BG" sz="1200" b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инструменти гарантира крос-платформена съвместимост и сигурност на връзката.</a:t>
            </a:r>
          </a:p>
          <a:p>
            <a:endParaRPr lang="bg-BG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A0737-17C7-403D-9CDA-79A13655FA6F}" type="slidenum">
              <a:rPr lang="bg-BG" smtClean="0"/>
              <a:t>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492664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Проведени са серия от локални и мрежови тестове за проверка на стабилността при различни натоварвания.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Тестването потвърждава коректното предаване на командите и устойчивостта на връзката в Wi-Fi среда.</a:t>
            </a:r>
          </a:p>
          <a:p>
            <a:endParaRPr lang="bg-BG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A0737-17C7-403D-9CDA-79A13655FA6F}" type="slidenum">
              <a:rPr lang="bg-BG" smtClean="0"/>
              <a:t>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729791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 процеса на разработка са разгледани проблеми, свързани със закъснението на сигнала и сигурността на достъпа.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Намерените решения подобряват общото потребителско изживяване и надеждността на системата.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bg-BG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A0737-17C7-403D-9CDA-79A13655FA6F}" type="slidenum">
              <a:rPr lang="bg-BG" smtClean="0"/>
              <a:t>9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170505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6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Проектът демонстрира модерен подход към автоматизацията и отдалечения достъп, подобрявайки ежедневието на потребителите. </a:t>
            </a:r>
            <a:endParaRPr lang="en-US" sz="16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6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Постигнатите резултати полагат основа за бъдещо развитие в посока по-сложни IoT интеграции.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A0737-17C7-403D-9CDA-79A13655FA6F}" type="slidenum">
              <a:rPr lang="bg-BG" smtClean="0"/>
              <a:t>10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019986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b="1" dirty="0" smtClean="0"/>
              <a:t>Благодаря</a:t>
            </a:r>
            <a:r>
              <a:rPr lang="bg-BG" b="1" baseline="0" dirty="0" smtClean="0"/>
              <a:t> за Вниманието ако имате въпроси ще </a:t>
            </a:r>
            <a:r>
              <a:rPr lang="bg-BG" b="1" baseline="0" smtClean="0"/>
              <a:t>се </a:t>
            </a:r>
            <a:r>
              <a:rPr lang="bg-BG" b="1" baseline="0" smtClean="0"/>
              <a:t>радвам,да </a:t>
            </a:r>
            <a:r>
              <a:rPr lang="bg-BG" b="1" baseline="0" dirty="0" smtClean="0"/>
              <a:t>отговоря</a:t>
            </a:r>
            <a:endParaRPr lang="bg-BG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A0737-17C7-403D-9CDA-79A13655FA6F}" type="slidenum">
              <a:rPr lang="bg-BG" smtClean="0"/>
              <a:t>11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09384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96B30504-7B8C-417C-9E68-353FFE08AE4F}" type="datetimeFigureOut">
              <a:rPr lang="bg-BG" smtClean="0"/>
              <a:t>14.5.2026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72376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14.5.2026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40533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14.5.2026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35152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14.5.2026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50796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14.5.2026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61008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14.5.2026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43915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14.5.2026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62862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14.5.2026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84219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14.5.2026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70939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14.5.2026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28044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14.5.2026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90742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14.5.2026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105152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14.5.2026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621739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14.5.2026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968882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14.5.2026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38546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14.5.2026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437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14.5.2026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41655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6B30504-7B8C-417C-9E68-353FFE08AE4F}" type="datetimeFigureOut">
              <a:rPr lang="bg-BG" smtClean="0"/>
              <a:t>14.5.2026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597375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  <p:sldLayoutId id="2147483917" r:id="rId12"/>
    <p:sldLayoutId id="2147483918" r:id="rId13"/>
    <p:sldLayoutId id="2147483919" r:id="rId14"/>
    <p:sldLayoutId id="2147483920" r:id="rId15"/>
    <p:sldLayoutId id="2147483921" r:id="rId16"/>
    <p:sldLayoutId id="214748392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9353" y="729205"/>
            <a:ext cx="10160256" cy="1111170"/>
          </a:xfrm>
        </p:spPr>
        <p:txBody>
          <a:bodyPr>
            <a:normAutofit fontScale="90000"/>
          </a:bodyPr>
          <a:lstStyle/>
          <a:p>
            <a:r>
              <a:rPr lang="bg-BG" sz="2400" b="1" dirty="0"/>
              <a:t>Държавен изпит за придобиване на трета степен на професионална квалификация – част по теория на професията</a:t>
            </a:r>
            <a:r>
              <a:rPr lang="bg-BG" sz="2400" dirty="0"/>
              <a:t/>
            </a:r>
            <a:br>
              <a:rPr lang="bg-BG" sz="2400" dirty="0"/>
            </a:br>
            <a:endParaRPr lang="bg-BG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53286" y="5827123"/>
            <a:ext cx="2266323" cy="89198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bg-BG" b="1" dirty="0" smtClean="0">
                <a:solidFill>
                  <a:schemeClr val="tx1">
                    <a:lumMod val="85000"/>
                  </a:schemeClr>
                </a:solidFill>
              </a:rPr>
              <a:t>Дипломант:</a:t>
            </a:r>
          </a:p>
          <a:p>
            <a:pPr marL="0" indent="0">
              <a:buNone/>
            </a:pPr>
            <a:r>
              <a:rPr lang="bg-BG" b="1" dirty="0" smtClean="0">
                <a:solidFill>
                  <a:schemeClr val="tx1">
                    <a:lumMod val="85000"/>
                  </a:schemeClr>
                </a:solidFill>
              </a:rPr>
              <a:t>Мартин Иванов</a:t>
            </a:r>
            <a:endParaRPr lang="bg-BG" b="1" dirty="0">
              <a:solidFill>
                <a:schemeClr val="tx1">
                  <a:lumMod val="8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2193" y="247425"/>
            <a:ext cx="4456254" cy="151192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044" y="1924526"/>
            <a:ext cx="8148576" cy="470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848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6755" y="609600"/>
            <a:ext cx="9150472" cy="1456267"/>
          </a:xfrm>
        </p:spPr>
        <p:txBody>
          <a:bodyPr/>
          <a:lstStyle/>
          <a:p>
            <a:r>
              <a:rPr lang="bg-BG" b="1" dirty="0"/>
              <a:t>Въведение и актуалност</a:t>
            </a:r>
            <a:endParaRPr lang="bg-BG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803" y="1818492"/>
            <a:ext cx="4616209" cy="5039508"/>
          </a:xfrm>
        </p:spPr>
      </p:pic>
      <p:sp>
        <p:nvSpPr>
          <p:cNvPr id="3" name="TextBox 2"/>
          <p:cNvSpPr txBox="1"/>
          <p:nvPr/>
        </p:nvSpPr>
        <p:spPr>
          <a:xfrm>
            <a:off x="5843125" y="2533980"/>
            <a:ext cx="56600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 smtClean="0"/>
              <a:t>.</a:t>
            </a:r>
            <a:r>
              <a:rPr lang="ru-RU" sz="3600" b="1" dirty="0" smtClean="0"/>
              <a:t>Динамично ежедневие</a:t>
            </a:r>
            <a:endParaRPr lang="ru-RU" sz="36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5854700" y="3364977"/>
            <a:ext cx="4798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4800" b="1" dirty="0" smtClean="0"/>
              <a:t>.</a:t>
            </a:r>
            <a:r>
              <a:rPr lang="en-US" sz="4000" b="1" dirty="0" err="1" smtClean="0"/>
              <a:t>Iot</a:t>
            </a:r>
            <a:r>
              <a:rPr lang="en-US" sz="4000" b="1" dirty="0" smtClean="0"/>
              <a:t> </a:t>
            </a:r>
            <a:r>
              <a:rPr lang="bg-BG" sz="4000" b="1" dirty="0"/>
              <a:t>интеграция</a:t>
            </a:r>
            <a:endParaRPr lang="bg-BG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5843125" y="4338246"/>
            <a:ext cx="56600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/>
              <a:t>.</a:t>
            </a:r>
            <a:r>
              <a:rPr lang="bg-BG" sz="3600" b="1" dirty="0" smtClean="0"/>
              <a:t>Оптимизация </a:t>
            </a:r>
            <a:r>
              <a:rPr lang="bg-BG" sz="3600" b="1" dirty="0"/>
              <a:t>на работата</a:t>
            </a:r>
            <a:endParaRPr lang="bg-BG" sz="3600" dirty="0"/>
          </a:p>
        </p:txBody>
      </p:sp>
    </p:spTree>
    <p:extLst>
      <p:ext uri="{BB962C8B-B14F-4D97-AF65-F5344CB8AC3E}">
        <p14:creationId xmlns:p14="http://schemas.microsoft.com/office/powerpoint/2010/main" val="1603851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1" y="2010144"/>
            <a:ext cx="10706582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>
              <a:buFont typeface="Wingdings" panose="05000000000000000000" pitchFamily="2" charset="2"/>
              <a:buChar char="q"/>
            </a:pPr>
            <a:r>
              <a:rPr lang="ru-RU" sz="2400" b="1" dirty="0" smtClean="0">
                <a:latin typeface="D-DINExp"/>
              </a:rPr>
              <a:t>Разработване </a:t>
            </a:r>
            <a:r>
              <a:rPr lang="ru-RU" sz="2400" b="1" dirty="0">
                <a:latin typeface="D-DINExp"/>
              </a:rPr>
              <a:t>на софтуерно решение: Създаване на система за дистанционно управление на десктоп </a:t>
            </a:r>
            <a:r>
              <a:rPr lang="ru-RU" sz="2400" b="1" dirty="0" smtClean="0">
                <a:latin typeface="D-DINExp"/>
              </a:rPr>
              <a:t>приложения. </a:t>
            </a:r>
            <a:endParaRPr lang="ru-RU" sz="2400" b="1" dirty="0">
              <a:latin typeface="D-DINExp"/>
            </a:endParaRPr>
          </a:p>
          <a:p>
            <a:pPr marL="342900" indent="-342900" algn="ctr">
              <a:buFont typeface="Wingdings" panose="05000000000000000000" pitchFamily="2" charset="2"/>
              <a:buChar char="q"/>
            </a:pPr>
            <a:endParaRPr lang="ru-RU" b="1" dirty="0" smtClean="0">
              <a:latin typeface="D-DINExp"/>
            </a:endParaRPr>
          </a:p>
          <a:p>
            <a:pPr marL="457200" indent="-457200" algn="ctr">
              <a:buFont typeface="Wingdings" panose="05000000000000000000" pitchFamily="2" charset="2"/>
              <a:buChar char="q"/>
            </a:pPr>
            <a:r>
              <a:rPr lang="ru-RU" sz="2400" b="1" dirty="0" smtClean="0">
                <a:latin typeface="D-DINExp"/>
              </a:rPr>
              <a:t>Достъпност </a:t>
            </a:r>
            <a:r>
              <a:rPr lang="ru-RU" sz="2400" b="1" dirty="0">
                <a:latin typeface="D-DINExp"/>
              </a:rPr>
              <a:t>и удобство: Осигуряване на пълен контрол през Wi-Fi </a:t>
            </a:r>
            <a:r>
              <a:rPr lang="ru-RU" sz="2400" b="1" dirty="0" smtClean="0">
                <a:latin typeface="D-DINExp"/>
              </a:rPr>
              <a:t>мрежа</a:t>
            </a:r>
            <a:r>
              <a:rPr lang="ru-RU" sz="2400" dirty="0" smtClean="0">
                <a:latin typeface="D-DINExp"/>
              </a:rPr>
              <a:t>.</a:t>
            </a:r>
            <a:endParaRPr lang="ru-RU" sz="2400" dirty="0">
              <a:latin typeface="D-DINExp"/>
            </a:endParaRPr>
          </a:p>
          <a:p>
            <a:pPr marL="342900" indent="-342900" algn="ctr">
              <a:buFont typeface="Wingdings" panose="05000000000000000000" pitchFamily="2" charset="2"/>
              <a:buChar char="q"/>
            </a:pPr>
            <a:endParaRPr lang="ru-RU" b="1" dirty="0" smtClean="0">
              <a:latin typeface="D-DINExp"/>
            </a:endParaRPr>
          </a:p>
          <a:p>
            <a:pPr marL="514350" indent="-514350" algn="ctr">
              <a:buFont typeface="Wingdings" panose="05000000000000000000" pitchFamily="2" charset="2"/>
              <a:buChar char="q"/>
            </a:pPr>
            <a:r>
              <a:rPr lang="ru-RU" sz="2800" dirty="0" smtClean="0">
                <a:latin typeface="D-DINExp"/>
              </a:rPr>
              <a:t>Ефективна </a:t>
            </a:r>
            <a:r>
              <a:rPr lang="ru-RU" sz="2800" dirty="0">
                <a:latin typeface="D-DINExp"/>
              </a:rPr>
              <a:t>интеграция: Постигане на бърза и сигурна връзка между мобилния браузър и </a:t>
            </a:r>
            <a:r>
              <a:rPr lang="ru-RU" sz="2800" dirty="0" smtClean="0">
                <a:latin typeface="D-DINExp"/>
              </a:rPr>
              <a:t>сървърната.</a:t>
            </a:r>
            <a:endParaRPr lang="ru-RU" sz="2800" i="0" dirty="0">
              <a:effectLst/>
              <a:latin typeface="D-DINExp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40911" y="181343"/>
            <a:ext cx="473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b="1" dirty="0" smtClean="0"/>
              <a:t> </a:t>
            </a:r>
            <a:r>
              <a:rPr lang="bg-BG" sz="2800" b="1" dirty="0"/>
              <a:t>Цел на проекта</a:t>
            </a:r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2266412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9674" y="4502552"/>
            <a:ext cx="6632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§"/>
            </a:pPr>
            <a:endParaRPr lang="bg-BG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518701" y="0"/>
            <a:ext cx="4282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800" b="1" dirty="0"/>
              <a:t>Основни </a:t>
            </a:r>
            <a:r>
              <a:rPr lang="bg-BG" sz="2800" b="1" dirty="0" smtClean="0"/>
              <a:t>задачи:</a:t>
            </a:r>
            <a:endParaRPr lang="bg-BG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3703898" y="4687218"/>
            <a:ext cx="344925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Courier New" panose="02070309020205020404" pitchFamily="49" charset="0"/>
              <a:buChar char="o"/>
            </a:pPr>
            <a:r>
              <a:rPr lang="bg-BG" sz="2000" b="1" dirty="0"/>
              <a:t>Проектиране</a:t>
            </a:r>
            <a:endParaRPr lang="bg-BG" sz="2000" dirty="0"/>
          </a:p>
          <a:p>
            <a:pPr marL="342900" indent="-342900" algn="ctr">
              <a:buFont typeface="Courier New" panose="02070309020205020404" pitchFamily="49" charset="0"/>
              <a:buChar char="o"/>
            </a:pPr>
            <a:r>
              <a:rPr lang="bg-BG" sz="2000" b="1" dirty="0"/>
              <a:t>Разработка</a:t>
            </a:r>
            <a:endParaRPr lang="bg-BG" sz="2000" dirty="0"/>
          </a:p>
          <a:p>
            <a:pPr marL="342900" indent="-342900" algn="ctr">
              <a:buFont typeface="Courier New" panose="02070309020205020404" pitchFamily="49" charset="0"/>
              <a:buChar char="o"/>
            </a:pPr>
            <a:r>
              <a:rPr lang="bg-BG" sz="2000" b="1" dirty="0"/>
              <a:t>Интеграция</a:t>
            </a:r>
            <a:endParaRPr lang="bg-BG" sz="2000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136290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561" y="424405"/>
            <a:ext cx="10131425" cy="1456267"/>
          </a:xfrm>
        </p:spPr>
        <p:txBody>
          <a:bodyPr/>
          <a:lstStyle/>
          <a:p>
            <a:pPr algn="ctr"/>
            <a:r>
              <a:rPr lang="bg-BG" b="1" dirty="0"/>
              <a:t>Архитектура на системата</a:t>
            </a:r>
            <a:endParaRPr lang="bg-BG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539433"/>
            <a:ext cx="7720315" cy="5318567"/>
          </a:xfrm>
        </p:spPr>
      </p:pic>
      <p:sp>
        <p:nvSpPr>
          <p:cNvPr id="5" name="TextBox 4"/>
          <p:cNvSpPr txBox="1"/>
          <p:nvPr/>
        </p:nvSpPr>
        <p:spPr>
          <a:xfrm>
            <a:off x="7905509" y="1979271"/>
            <a:ext cx="4074288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ru-RU" sz="2000" b="1" dirty="0"/>
              <a:t>Модел Сървър-Клиент: Десктоп приложението действа като хост, обслужващ заявките от телефона.</a:t>
            </a:r>
          </a:p>
          <a:p>
            <a:pPr marL="342900" indent="-342900" algn="ctr">
              <a:buFont typeface="Wingdings" panose="05000000000000000000" pitchFamily="2" charset="2"/>
              <a:buChar char="Ø"/>
            </a:pPr>
            <a:endParaRPr lang="ru-RU" sz="2000" b="1" dirty="0" smtClean="0"/>
          </a:p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ru-RU" sz="2000" b="1" dirty="0" smtClean="0"/>
              <a:t>Wi-Fi </a:t>
            </a:r>
            <a:r>
              <a:rPr lang="ru-RU" sz="2000" b="1" dirty="0"/>
              <a:t>комуникация: Използване на стандартни мрежови протоколи за пренос на данни в реално време.</a:t>
            </a:r>
          </a:p>
          <a:p>
            <a:pPr marL="342900" indent="-342900" algn="ctr">
              <a:buFont typeface="Wingdings" panose="05000000000000000000" pitchFamily="2" charset="2"/>
              <a:buChar char="Ø"/>
            </a:pPr>
            <a:endParaRPr lang="ru-RU" sz="2000" b="1" dirty="0" smtClean="0"/>
          </a:p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ru-RU" sz="2000" b="1" dirty="0" smtClean="0"/>
              <a:t>Директна </a:t>
            </a:r>
            <a:r>
              <a:rPr lang="ru-RU" sz="2000" b="1" dirty="0"/>
              <a:t>връзка: Осигуряване на ниска латентност и бърза реакция при подаване на команди.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231474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b="1" dirty="0"/>
              <a:t>Потребителски интерфейс (UI)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ru-RU" sz="2000" b="1" dirty="0"/>
              <a:t>Адаптивен дизайн: Интерфейсът се напасва автоматично към различни размери на екрани и мобилни устройства.</a:t>
            </a:r>
          </a:p>
          <a:p>
            <a:pPr marL="457200" indent="-457200">
              <a:buFont typeface="+mj-lt"/>
              <a:buAutoNum type="arabicParenR"/>
            </a:pPr>
            <a:r>
              <a:rPr lang="ru-RU" sz="2000" b="1" dirty="0"/>
              <a:t>Интуитивни контроли: Изчистена подредба на бутоните за бърз достъп до основните функции.</a:t>
            </a:r>
          </a:p>
          <a:p>
            <a:pPr marL="457200" indent="-457200">
              <a:buFont typeface="+mj-lt"/>
              <a:buAutoNum type="arabicParenR"/>
            </a:pPr>
            <a:r>
              <a:rPr lang="ru-RU" sz="2000" b="1" dirty="0"/>
              <a:t>Лесна навигация: Минималистичен стил, който гарантира удобство при работа с една ръка.</a:t>
            </a:r>
          </a:p>
          <a:p>
            <a:pPr marL="457200" indent="-457200">
              <a:buFont typeface="+mj-lt"/>
              <a:buAutoNum type="arabicParenR"/>
            </a:pPr>
            <a:endParaRPr lang="bg-BG" sz="2000" b="1" dirty="0"/>
          </a:p>
        </p:txBody>
      </p:sp>
    </p:spTree>
    <p:extLst>
      <p:ext uri="{BB962C8B-B14F-4D97-AF65-F5344CB8AC3E}">
        <p14:creationId xmlns:p14="http://schemas.microsoft.com/office/powerpoint/2010/main" val="1427372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338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b="1" dirty="0"/>
              <a:t>Тестване и верификация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ctr">
              <a:buFont typeface="+mj-lt"/>
              <a:buAutoNum type="alphaLcParenR"/>
            </a:pPr>
            <a:r>
              <a:rPr lang="ru-RU" sz="2000" b="1" dirty="0"/>
              <a:t>Функционално тестване: Проверка на коректното изпълнение на всички команди от мобилния браузър.</a:t>
            </a:r>
          </a:p>
          <a:p>
            <a:pPr marL="457200" indent="-457200" algn="ctr">
              <a:buFont typeface="+mj-lt"/>
              <a:buAutoNum type="alphaLcParenR"/>
            </a:pPr>
            <a:r>
              <a:rPr lang="ru-RU" sz="2000" b="1" dirty="0"/>
              <a:t>Оптимизация на връзката: Анализ на бързината и стабилността на предаване на данни през Wi-Fi.</a:t>
            </a:r>
          </a:p>
          <a:p>
            <a:pPr marL="457200" indent="-457200" algn="ctr">
              <a:buFont typeface="+mj-lt"/>
              <a:buAutoNum type="alphaLcParenR"/>
            </a:pPr>
            <a:r>
              <a:rPr lang="ru-RU" sz="2000" b="1" dirty="0"/>
              <a:t>Валидиране на интерфейса: Тестване на адаптивността на дизайна върху различни мобилни екрани.</a:t>
            </a:r>
          </a:p>
          <a:p>
            <a:pPr marL="0" indent="0">
              <a:buNone/>
            </a:pPr>
            <a:r>
              <a:rPr lang="ru-RU" dirty="0"/>
              <a:t/>
            </a:r>
            <a:br>
              <a:rPr lang="ru-RU" dirty="0"/>
            </a:b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052680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41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032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24223" y="3044142"/>
            <a:ext cx="70837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4400" dirty="0" smtClean="0"/>
              <a:t>Благодаря за Вниманието</a:t>
            </a:r>
            <a:endParaRPr lang="bg-BG" sz="4400" dirty="0"/>
          </a:p>
        </p:txBody>
      </p:sp>
    </p:spTree>
    <p:extLst>
      <p:ext uri="{BB962C8B-B14F-4D97-AF65-F5344CB8AC3E}">
        <p14:creationId xmlns:p14="http://schemas.microsoft.com/office/powerpoint/2010/main" val="1320543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4"/>
    </mc:Choice>
    <mc:Fallback xmlns="">
      <p:transition spd="slow" advTm="1644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395</TotalTime>
  <Words>364</Words>
  <Application>Microsoft Office PowerPoint</Application>
  <PresentationFormat>Widescreen</PresentationFormat>
  <Paragraphs>64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D-DINExp</vt:lpstr>
      <vt:lpstr>Wingdings</vt:lpstr>
      <vt:lpstr>Celestial</vt:lpstr>
      <vt:lpstr>Държавен изпит за придобиване на трета степен на професионална квалификация – част по теория на професията </vt:lpstr>
      <vt:lpstr>Въведение и актуалност</vt:lpstr>
      <vt:lpstr>PowerPoint Presentation</vt:lpstr>
      <vt:lpstr>PowerPoint Presentation</vt:lpstr>
      <vt:lpstr>Архитектура на системата</vt:lpstr>
      <vt:lpstr>Потребителски интерфейс (UI)</vt:lpstr>
      <vt:lpstr>PowerPoint Presentation</vt:lpstr>
      <vt:lpstr>Тестване и верификация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40</cp:revision>
  <dcterms:created xsi:type="dcterms:W3CDTF">2026-04-27T09:16:50Z</dcterms:created>
  <dcterms:modified xsi:type="dcterms:W3CDTF">2026-05-14T07:55:29Z</dcterms:modified>
</cp:coreProperties>
</file>