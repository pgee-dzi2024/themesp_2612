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3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717" autoAdjust="0"/>
  </p:normalViewPr>
  <p:slideViewPr>
    <p:cSldViewPr snapToGrid="0">
      <p:cViewPr varScale="1">
        <p:scale>
          <a:sx n="79" d="100"/>
          <a:sy n="79" d="100"/>
        </p:scale>
        <p:origin x="1716" y="96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90E4F-9C83-4A89-ADD9-4462A43A1979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A0737-17C7-403D-9CDA-79A13655FA6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721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Уважаема</a:t>
            </a:r>
            <a:r>
              <a:rPr lang="bg-BG" baseline="0" dirty="0" smtClean="0"/>
              <a:t> г-жо Директор, Уважаема комисия. Аз съм Мартин Иванов. Темата на моя дипломен проект е „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sz="18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 на десктоп приложение през телефон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51231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ерата на „Интернет на нещата“ (IoT) мобилните устройства се превръщат в универсални терминали за управление.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Проектът адресира нуждата от гъвкавост и удобство при работа с компютърни конфигурации от разстояние.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80101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Целта</a:t>
            </a:r>
            <a:r>
              <a:rPr lang="bg-BG" sz="1200" b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проекта е 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Разработване 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софтуерно решение, което позволява контрол над десктоп приложения без инсталация на допълнителен софтуер на мобилния телефон. </a:t>
            </a:r>
          </a:p>
          <a:p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Основен приоритет е използването на съществуващата Wi-Fi инфраструктура за максимална достъпност</a:t>
            </a:r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67209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Процесът включва проектиране на стабилна сървърна архитектура и разработка на специализиран приложно-програмен интерфейс (API).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Фокусът е върху безпроблемната интеграция между десктоп сървъра и мобилния потребителски интерфейс.</a:t>
            </a:r>
          </a:p>
          <a:p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26627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Системата е изградена на принципа клиент-сървър, където десктоп приложението действа като хост.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Комуникацията се осъществява чрез стандартни мрежови протоколи, осигуряващи ниска латентност и бърза реакция.</a:t>
            </a:r>
          </a:p>
          <a:p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1128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Интерфейсът е проектиран да бъде интуитивен и адаптивен, оптимизиран за работа през мобилен браузър.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Целта е потребителят да има пълен контрол върху основните функции на приложенията с минимални усилия.</a:t>
            </a:r>
          </a:p>
          <a:p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99317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Използвани са съвременни езици за програмиране и технологии за мрежова комуникация, подходящи за работа в реално време.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Подборът на инструменти гарантира крос-платформена съвместимост и сигурност на връзката.</a:t>
            </a:r>
          </a:p>
          <a:p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49266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Проведени са серия от локални и мрежови тестове за проверка на стабилността при различни натоварвания.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Тестването потвърждава коректното предаване на командите и устойчивостта на връзката в Wi-Fi среда.</a:t>
            </a:r>
          </a:p>
          <a:p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2979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процеса на разработка са адресирани проблеми, свързани със закъснението на сигнала и сигурността на достъпа.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Намерените решения подобряват общото потребителско изживяване и надеждността на системата.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17050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6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Проектът демонстрира иновативен подход към автоматизацията и отдалечения достъп, подобрявайки ежедневието на потребителите. </a:t>
            </a:r>
            <a:endParaRPr lang="en-US" sz="16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6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Постигнатите резултати полагат основа за бъдещо развитие в посока по-сложни IoT интеграции.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01998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b="1" dirty="0" smtClean="0"/>
              <a:t>Благодаря</a:t>
            </a:r>
            <a:r>
              <a:rPr lang="bg-BG" b="1" baseline="0" dirty="0" smtClean="0"/>
              <a:t> за Вниманието ако имате въпроси ще се радвам да отговоря</a:t>
            </a:r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A0737-17C7-403D-9CDA-79A13655FA6F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09384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72376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053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3515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50796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6100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43915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6286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8421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7093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28044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90742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10515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62173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96888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3854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43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41655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B30504-7B8C-417C-9E68-353FFE08AE4F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965B4C7-9FFB-4E0A-9780-7ADB1E4C44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9737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9353" y="729205"/>
            <a:ext cx="10160256" cy="1111170"/>
          </a:xfrm>
        </p:spPr>
        <p:txBody>
          <a:bodyPr>
            <a:normAutofit fontScale="90000"/>
          </a:bodyPr>
          <a:lstStyle/>
          <a:p>
            <a:r>
              <a:rPr lang="bg-BG" sz="2400" b="1" dirty="0"/>
              <a:t>Държавен изпит за придобиване на трета степен на професионална квалификация – част по теория на професията</a:t>
            </a:r>
            <a:r>
              <a:rPr lang="bg-BG" sz="2400" dirty="0"/>
              <a:t/>
            </a:r>
            <a:br>
              <a:rPr lang="bg-BG" sz="2400" dirty="0"/>
            </a:br>
            <a:endParaRPr lang="bg-BG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3286" y="5827123"/>
            <a:ext cx="2266323" cy="8919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bg-BG" b="1" dirty="0" smtClean="0">
                <a:solidFill>
                  <a:schemeClr val="tx1">
                    <a:lumMod val="85000"/>
                  </a:schemeClr>
                </a:solidFill>
              </a:rPr>
              <a:t>Дипломант:</a:t>
            </a:r>
          </a:p>
          <a:p>
            <a:pPr marL="0" indent="0">
              <a:buNone/>
            </a:pPr>
            <a:r>
              <a:rPr lang="bg-BG" b="1" dirty="0" smtClean="0">
                <a:solidFill>
                  <a:schemeClr val="tx1">
                    <a:lumMod val="85000"/>
                  </a:schemeClr>
                </a:solidFill>
              </a:rPr>
              <a:t>Мартин Иванов</a:t>
            </a:r>
            <a:endParaRPr lang="bg-BG" b="1" dirty="0">
              <a:solidFill>
                <a:schemeClr val="tx1">
                  <a:lumMod val="8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2193" y="247425"/>
            <a:ext cx="4456254" cy="15119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044" y="1924526"/>
            <a:ext cx="8148576" cy="47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4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755" y="609600"/>
            <a:ext cx="9150472" cy="1456267"/>
          </a:xfrm>
        </p:spPr>
        <p:txBody>
          <a:bodyPr/>
          <a:lstStyle/>
          <a:p>
            <a:r>
              <a:rPr lang="bg-BG" b="1" dirty="0"/>
              <a:t>Въведение и актуалност</a:t>
            </a:r>
            <a:endParaRPr lang="bg-BG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03" y="1818492"/>
            <a:ext cx="4616209" cy="5039508"/>
          </a:xfrm>
        </p:spPr>
      </p:pic>
      <p:sp>
        <p:nvSpPr>
          <p:cNvPr id="3" name="TextBox 2"/>
          <p:cNvSpPr txBox="1"/>
          <p:nvPr/>
        </p:nvSpPr>
        <p:spPr>
          <a:xfrm>
            <a:off x="5843125" y="2533980"/>
            <a:ext cx="5660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 smtClean="0"/>
              <a:t>.</a:t>
            </a:r>
            <a:r>
              <a:rPr lang="ru-RU" sz="3600" b="1" dirty="0" smtClean="0"/>
              <a:t>Динамично ежедневие</a:t>
            </a:r>
            <a:endParaRPr lang="ru-RU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854700" y="3364977"/>
            <a:ext cx="479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800" b="1" dirty="0" smtClean="0"/>
              <a:t>.</a:t>
            </a:r>
            <a:r>
              <a:rPr lang="en-US" sz="4000" b="1" dirty="0" err="1" smtClean="0"/>
              <a:t>Iot</a:t>
            </a:r>
            <a:r>
              <a:rPr lang="en-US" sz="4000" b="1" dirty="0" smtClean="0"/>
              <a:t> </a:t>
            </a:r>
            <a:r>
              <a:rPr lang="bg-BG" sz="4000" b="1" dirty="0"/>
              <a:t>интеграция</a:t>
            </a:r>
            <a:endParaRPr lang="bg-BG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5843125" y="4338246"/>
            <a:ext cx="56600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.</a:t>
            </a:r>
            <a:r>
              <a:rPr lang="bg-BG" sz="3600" b="1" dirty="0" smtClean="0"/>
              <a:t>Оптимизация </a:t>
            </a:r>
            <a:r>
              <a:rPr lang="bg-BG" sz="3600" b="1" dirty="0"/>
              <a:t>на работата</a:t>
            </a:r>
            <a:endParaRPr lang="bg-BG" sz="3600" dirty="0"/>
          </a:p>
        </p:txBody>
      </p:sp>
    </p:spTree>
    <p:extLst>
      <p:ext uri="{BB962C8B-B14F-4D97-AF65-F5344CB8AC3E}">
        <p14:creationId xmlns:p14="http://schemas.microsoft.com/office/powerpoint/2010/main" val="160385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1" y="2010144"/>
            <a:ext cx="10706582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D-DINExp"/>
              </a:rPr>
              <a:t>Разработване </a:t>
            </a:r>
            <a:r>
              <a:rPr lang="ru-RU" sz="2400" b="1" dirty="0">
                <a:latin typeface="D-DINExp"/>
              </a:rPr>
              <a:t>на софтуерно решение: Създаване на система за дистанционно управление на десктоп </a:t>
            </a:r>
            <a:r>
              <a:rPr lang="ru-RU" sz="2400" b="1" dirty="0" smtClean="0">
                <a:latin typeface="D-DINExp"/>
              </a:rPr>
              <a:t>приложения. </a:t>
            </a:r>
            <a:endParaRPr lang="ru-RU" sz="2400" b="1" dirty="0">
              <a:latin typeface="D-DINExp"/>
            </a:endParaRPr>
          </a:p>
          <a:p>
            <a:pPr marL="342900" indent="-342900" algn="ctr">
              <a:buFont typeface="Wingdings" panose="05000000000000000000" pitchFamily="2" charset="2"/>
              <a:buChar char="q"/>
            </a:pPr>
            <a:endParaRPr lang="ru-RU" b="1" dirty="0" smtClean="0">
              <a:latin typeface="D-DINExp"/>
            </a:endParaRPr>
          </a:p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D-DINExp"/>
              </a:rPr>
              <a:t>Достъпност </a:t>
            </a:r>
            <a:r>
              <a:rPr lang="ru-RU" sz="2400" b="1" dirty="0">
                <a:latin typeface="D-DINExp"/>
              </a:rPr>
              <a:t>и удобство: Осигуряване на пълен контрол през Wi-Fi </a:t>
            </a:r>
            <a:r>
              <a:rPr lang="ru-RU" sz="2400" b="1" dirty="0" smtClean="0">
                <a:latin typeface="D-DINExp"/>
              </a:rPr>
              <a:t>мрежа</a:t>
            </a:r>
            <a:r>
              <a:rPr lang="ru-RU" sz="2400" dirty="0" smtClean="0">
                <a:latin typeface="D-DINExp"/>
              </a:rPr>
              <a:t>.</a:t>
            </a:r>
            <a:endParaRPr lang="ru-RU" sz="2400" dirty="0">
              <a:latin typeface="D-DINExp"/>
            </a:endParaRPr>
          </a:p>
          <a:p>
            <a:pPr marL="342900" indent="-342900" algn="ctr">
              <a:buFont typeface="Wingdings" panose="05000000000000000000" pitchFamily="2" charset="2"/>
              <a:buChar char="q"/>
            </a:pPr>
            <a:endParaRPr lang="ru-RU" b="1" dirty="0" smtClean="0">
              <a:latin typeface="D-DINExp"/>
            </a:endParaRPr>
          </a:p>
          <a:p>
            <a:pPr marL="514350" indent="-514350" algn="ctr">
              <a:buFont typeface="Wingdings" panose="05000000000000000000" pitchFamily="2" charset="2"/>
              <a:buChar char="q"/>
            </a:pPr>
            <a:r>
              <a:rPr lang="ru-RU" sz="2800" dirty="0" smtClean="0">
                <a:latin typeface="D-DINExp"/>
              </a:rPr>
              <a:t>Ефективна </a:t>
            </a:r>
            <a:r>
              <a:rPr lang="ru-RU" sz="2800" dirty="0">
                <a:latin typeface="D-DINExp"/>
              </a:rPr>
              <a:t>интеграция: Постигане на бърза и сигурна връзка между мобилния браузър и </a:t>
            </a:r>
            <a:r>
              <a:rPr lang="ru-RU" sz="2800" dirty="0" smtClean="0">
                <a:latin typeface="D-DINExp"/>
              </a:rPr>
              <a:t>сървърната.</a:t>
            </a:r>
            <a:endParaRPr lang="ru-RU" sz="2800" i="0" dirty="0">
              <a:effectLst/>
              <a:latin typeface="D-DINExp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40911" y="181343"/>
            <a:ext cx="473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b="1" dirty="0" smtClean="0"/>
              <a:t> </a:t>
            </a:r>
            <a:r>
              <a:rPr lang="bg-BG" sz="2800" b="1" dirty="0"/>
              <a:t>Цел на проекта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226641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9674" y="4502552"/>
            <a:ext cx="663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endParaRPr lang="bg-BG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518701" y="0"/>
            <a:ext cx="4282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b="1" dirty="0"/>
              <a:t>Основни </a:t>
            </a:r>
            <a:r>
              <a:rPr lang="bg-BG" sz="2800" b="1" dirty="0" smtClean="0"/>
              <a:t>задачи:</a:t>
            </a:r>
            <a:endParaRPr lang="bg-BG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703898" y="4687218"/>
            <a:ext cx="344925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bg-BG" sz="2000" b="1" dirty="0"/>
              <a:t>Проектиране</a:t>
            </a:r>
            <a:endParaRPr lang="bg-BG" sz="2000" dirty="0"/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bg-BG" sz="2000" b="1" dirty="0"/>
              <a:t>Разработка</a:t>
            </a:r>
            <a:endParaRPr lang="bg-BG" sz="2000" dirty="0"/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bg-BG" sz="2000" b="1" dirty="0"/>
              <a:t>Интеграция</a:t>
            </a:r>
            <a:endParaRPr lang="bg-BG" sz="2000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3629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561" y="424405"/>
            <a:ext cx="10131425" cy="1456267"/>
          </a:xfrm>
        </p:spPr>
        <p:txBody>
          <a:bodyPr/>
          <a:lstStyle/>
          <a:p>
            <a:pPr algn="ctr"/>
            <a:r>
              <a:rPr lang="bg-BG" b="1" dirty="0"/>
              <a:t>Архитектура на системата</a:t>
            </a:r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39433"/>
            <a:ext cx="7720315" cy="5318567"/>
          </a:xfrm>
        </p:spPr>
      </p:pic>
      <p:sp>
        <p:nvSpPr>
          <p:cNvPr id="5" name="TextBox 4"/>
          <p:cNvSpPr txBox="1"/>
          <p:nvPr/>
        </p:nvSpPr>
        <p:spPr>
          <a:xfrm>
            <a:off x="7905509" y="1979271"/>
            <a:ext cx="407428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ru-RU" sz="2000" b="1" dirty="0"/>
              <a:t>Модел Сървър-Клиент: Десктоп приложението действа като хост, обслужващ заявките от телефона.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ru-RU" sz="2000" b="1" dirty="0" smtClean="0"/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ru-RU" sz="2000" b="1" dirty="0" smtClean="0"/>
              <a:t>Wi-Fi </a:t>
            </a:r>
            <a:r>
              <a:rPr lang="ru-RU" sz="2000" b="1" dirty="0"/>
              <a:t>комуникация: Използване на стандартни мрежови протоколи за пренос на данни в реално време.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ru-RU" sz="2000" b="1" dirty="0" smtClean="0"/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ru-RU" sz="2000" b="1" dirty="0" smtClean="0"/>
              <a:t>Директна </a:t>
            </a:r>
            <a:r>
              <a:rPr lang="ru-RU" sz="2000" b="1" dirty="0"/>
              <a:t>връзка: Осигуряване на ниска латентност и бърза реакция при подаване на команди.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3147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b="1" dirty="0"/>
              <a:t>Потребителски интерфейс (UI)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ru-RU" sz="2000" b="1" dirty="0"/>
              <a:t>Адаптивен дизайн: Интерфейсът се напасва автоматично към различни размери на екрани и мобилни устройства.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b="1" dirty="0"/>
              <a:t>Интуитивни контроли: Изчистена подредба на бутоните за бърз достъп до основните функции.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b="1" dirty="0"/>
              <a:t>Лесна навигация: Минималистичен стил, който гарантира удобство при работа с една ръка.</a:t>
            </a:r>
          </a:p>
          <a:p>
            <a:pPr marL="457200" indent="-457200">
              <a:buFont typeface="+mj-lt"/>
              <a:buAutoNum type="arabicParenR"/>
            </a:pPr>
            <a:endParaRPr lang="bg-BG" sz="2000" b="1" dirty="0"/>
          </a:p>
        </p:txBody>
      </p:sp>
    </p:spTree>
    <p:extLst>
      <p:ext uri="{BB962C8B-B14F-4D97-AF65-F5344CB8AC3E}">
        <p14:creationId xmlns:p14="http://schemas.microsoft.com/office/powerpoint/2010/main" val="142737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3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b="1" dirty="0"/>
              <a:t>Тестване и верификация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ctr">
              <a:buFont typeface="+mj-lt"/>
              <a:buAutoNum type="alphaLcParenR"/>
            </a:pPr>
            <a:r>
              <a:rPr lang="ru-RU" sz="2000" b="1" dirty="0"/>
              <a:t>Функционално тестване: Проверка на коректното изпълнение на всички команди от мобилния браузър.</a:t>
            </a:r>
          </a:p>
          <a:p>
            <a:pPr marL="457200" indent="-457200" algn="ctr">
              <a:buFont typeface="+mj-lt"/>
              <a:buAutoNum type="alphaLcParenR"/>
            </a:pPr>
            <a:r>
              <a:rPr lang="ru-RU" sz="2000" b="1" dirty="0"/>
              <a:t>Оптимизация на връзката: Анализ на бързината и стабилността на предаване на данни през Wi-Fi.</a:t>
            </a:r>
          </a:p>
          <a:p>
            <a:pPr marL="457200" indent="-457200" algn="ctr">
              <a:buFont typeface="+mj-lt"/>
              <a:buAutoNum type="alphaLcParenR"/>
            </a:pPr>
            <a:r>
              <a:rPr lang="ru-RU" sz="2000" b="1" dirty="0"/>
              <a:t>Валидиране на интерфейса: Тестване на адаптивността на дизайна върху различни мобилни екрани.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5268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3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24223" y="3044142"/>
            <a:ext cx="70837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400" dirty="0" smtClean="0"/>
              <a:t>Благодаря за Вниманието</a:t>
            </a:r>
            <a:endParaRPr lang="bg-BG" sz="4400" dirty="0"/>
          </a:p>
        </p:txBody>
      </p:sp>
    </p:spTree>
    <p:extLst>
      <p:ext uri="{BB962C8B-B14F-4D97-AF65-F5344CB8AC3E}">
        <p14:creationId xmlns:p14="http://schemas.microsoft.com/office/powerpoint/2010/main" val="132054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4"/>
    </mc:Choice>
    <mc:Fallback xmlns="">
      <p:transition spd="slow" advTm="1644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383</TotalTime>
  <Words>368</Words>
  <Application>Microsoft Office PowerPoint</Application>
  <PresentationFormat>Widescreen</PresentationFormat>
  <Paragraphs>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D-DINExp</vt:lpstr>
      <vt:lpstr>Wingdings</vt:lpstr>
      <vt:lpstr>Celestial</vt:lpstr>
      <vt:lpstr>Държавен изпит за придобиване на трета степен на професионална квалификация – част по теория на професията </vt:lpstr>
      <vt:lpstr>Въведение и актуалност</vt:lpstr>
      <vt:lpstr>PowerPoint Presentation</vt:lpstr>
      <vt:lpstr>PowerPoint Presentation</vt:lpstr>
      <vt:lpstr>Архитектура на системата</vt:lpstr>
      <vt:lpstr>Потребителски интерфейс (UI)</vt:lpstr>
      <vt:lpstr>PowerPoint Presentation</vt:lpstr>
      <vt:lpstr>Тестване и верификация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Georgi Borikov</cp:lastModifiedBy>
  <cp:revision>36</cp:revision>
  <dcterms:created xsi:type="dcterms:W3CDTF">2026-04-27T09:16:50Z</dcterms:created>
  <dcterms:modified xsi:type="dcterms:W3CDTF">2026-05-11T09:39:42Z</dcterms:modified>
</cp:coreProperties>
</file>