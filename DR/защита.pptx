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05" r:id="rId1"/>
  </p:sldMasterIdLst>
  <p:notesMasterIdLst>
    <p:notesMasterId r:id="rId15"/>
  </p:notesMasterIdLst>
  <p:sldIdLst>
    <p:sldId id="258" r:id="rId2"/>
    <p:sldId id="259" r:id="rId3"/>
    <p:sldId id="269" r:id="rId4"/>
    <p:sldId id="270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bg-BG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dmin" initials="a" lastIdx="2" clrIdx="0">
    <p:extLst>
      <p:ext uri="{19B8F6BF-5375-455C-9EA6-DF929625EA0E}">
        <p15:presenceInfo xmlns:p15="http://schemas.microsoft.com/office/powerpoint/2012/main" userId="admin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2717" autoAdjust="0"/>
  </p:normalViewPr>
  <p:slideViewPr>
    <p:cSldViewPr snapToGrid="0">
      <p:cViewPr varScale="1">
        <p:scale>
          <a:sx n="83" d="100"/>
          <a:sy n="83" d="100"/>
        </p:scale>
        <p:origin x="163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990E4F-9C83-4A89-ADD9-4462A43A1979}" type="datetimeFigureOut">
              <a:rPr lang="bg-BG" smtClean="0"/>
              <a:t>11.5.2026 г.</a:t>
            </a:fld>
            <a:endParaRPr lang="bg-B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1A0737-17C7-403D-9CDA-79A13655FA6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7721437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Уважаема</a:t>
            </a:r>
            <a:r>
              <a:rPr lang="bg-BG" baseline="0" dirty="0" smtClean="0"/>
              <a:t> г-жо Директор, Уважаема комисия. Аз съм Мартин Иванов. Темата на моя дипломен проект е „</a:t>
            </a: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bg-BG" sz="18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Управление на десктоп приложение през телефон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1A0737-17C7-403D-9CDA-79A13655FA6F}" type="slidenum">
              <a:rPr lang="bg-BG" smtClean="0"/>
              <a:t>1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3512318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ерата на „Интернет на нещата“ (IoT) мобилните устройства се превръщат в универсални терминали за управление.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Проектът адресира нуждата от гъвкавост и удобство при работа с компютърни конфигурации от разстояние.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1A0737-17C7-403D-9CDA-79A13655FA6F}" type="slidenum">
              <a:rPr lang="bg-BG" smtClean="0"/>
              <a:t>2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6801013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Разработване на софтуерно решение, което позволява контрол над десктоп приложения без инсталация на допълнителен софтуер на мобилния телефон. </a:t>
            </a:r>
          </a:p>
          <a:p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Основен приоритет е използването на съществуващата Wi-Fi инфраструктура за максимална достъпност</a:t>
            </a:r>
            <a:endParaRPr lang="bg-BG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1A0737-17C7-403D-9CDA-79A13655FA6F}" type="slidenum">
              <a:rPr lang="bg-BG" smtClean="0"/>
              <a:t>5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1672095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Процесът включва проектиране на стабилна сървърна архитектура и разработка на специализиран приложно-програмен интерфейс (API).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Фокусът е върху безпроблемната интеграция между десктоп сървъра и мобилния потребителски интерфейс.</a:t>
            </a:r>
          </a:p>
          <a:p>
            <a:endParaRPr lang="bg-BG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1A0737-17C7-403D-9CDA-79A13655FA6F}" type="slidenum">
              <a:rPr lang="bg-BG" smtClean="0"/>
              <a:t>6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72662701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Системата е изградена на принципа клиент-сървър, където десктоп приложението действа като хост.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Комуникацията се осъществява чрез стандартни мрежови протоколи, осигуряващи ниска латентност и бърза реакция.</a:t>
            </a:r>
          </a:p>
          <a:p>
            <a:endParaRPr lang="bg-BG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1A0737-17C7-403D-9CDA-79A13655FA6F}" type="slidenum">
              <a:rPr lang="bg-BG" smtClean="0"/>
              <a:t>7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31128764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Интерфейсът е проектиран да бъде интуитивен и адаптивен, оптимизиран за работа през мобилен браузър.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Целта е потребителят да има пълен контрол върху основните функции на приложенията с минимални усилия.</a:t>
            </a:r>
          </a:p>
          <a:p>
            <a:endParaRPr lang="bg-BG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1A0737-17C7-403D-9CDA-79A13655FA6F}" type="slidenum">
              <a:rPr lang="bg-BG" smtClean="0"/>
              <a:t>8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4993174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Използвани са съвременни езици за програмиране и технологии за мрежова комуникация, подходящи за работа в реално време.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Подборът на инструменти гарантира крос-платформена съвместимост и сигурност на връзката.</a:t>
            </a:r>
          </a:p>
          <a:p>
            <a:endParaRPr lang="bg-BG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1A0737-17C7-403D-9CDA-79A13655FA6F}" type="slidenum">
              <a:rPr lang="bg-BG" smtClean="0"/>
              <a:t>9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7492664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Проведени са серия от локални и мрежови тестове за проверка на стабилността при различни натоварвания.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Тестването потвърждава коректното предаване на командите и устойчивостта на връзката в Wi-Fi среда.</a:t>
            </a:r>
          </a:p>
          <a:p>
            <a:endParaRPr lang="bg-BG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1A0737-17C7-403D-9CDA-79A13655FA6F}" type="slidenum">
              <a:rPr lang="bg-BG" smtClean="0"/>
              <a:t>10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0729791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В процеса на разработка са адресирани проблеми, свързани със закъснението на сигнала и сигурността на достъпа.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Намерените решения подобряват общото потребителско изживяване и надеждността на системата.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bg-BG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1A0737-17C7-403D-9CDA-79A13655FA6F}" type="slidenum">
              <a:rPr lang="bg-BG" smtClean="0"/>
              <a:t>11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170505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6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Проектът демонстрира иновативен подход към автоматизацията и отдалечения достъп, подобрявайки ежедневието на потребителите. </a:t>
            </a:r>
            <a:endParaRPr lang="en-US" sz="1600" b="1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6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Постигнатите резултати полагат основа за бъдещо развитие в посока по-сложни IoT интеграции.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1A0737-17C7-403D-9CDA-79A13655FA6F}" type="slidenum">
              <a:rPr lang="bg-BG" smtClean="0"/>
              <a:t>12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0199866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b="1" dirty="0" smtClean="0"/>
              <a:t>Благодаря</a:t>
            </a:r>
            <a:r>
              <a:rPr lang="bg-BG" b="1" baseline="0" dirty="0" smtClean="0"/>
              <a:t> за Вниманието ако имате въпроси ще се радвам да отговоря</a:t>
            </a:r>
            <a:endParaRPr lang="bg-BG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1A0737-17C7-403D-9CDA-79A13655FA6F}" type="slidenum">
              <a:rPr lang="bg-BG" smtClean="0"/>
              <a:t>13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093843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Title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62399" y="1964267"/>
            <a:ext cx="7197726" cy="2421464"/>
          </a:xfrm>
        </p:spPr>
        <p:txBody>
          <a:bodyPr anchor="b">
            <a:normAutofit/>
          </a:bodyPr>
          <a:lstStyle>
            <a:lvl1pPr algn="r">
              <a:defRPr sz="4800">
                <a:effectLst/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62399" y="4385732"/>
            <a:ext cx="7197726" cy="1405467"/>
          </a:xfrm>
        </p:spPr>
        <p:txBody>
          <a:bodyPr anchor="t">
            <a:normAutofit/>
          </a:bodyPr>
          <a:lstStyle>
            <a:lvl1pPr marL="0" indent="0" algn="r">
              <a:buNone/>
              <a:defRPr sz="1800" cap="all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32558" y="5870575"/>
            <a:ext cx="1600200" cy="377825"/>
          </a:xfrm>
        </p:spPr>
        <p:txBody>
          <a:bodyPr/>
          <a:lstStyle/>
          <a:p>
            <a:fld id="{96B30504-7B8C-417C-9E68-353FFE08AE4F}" type="datetimeFigureOut">
              <a:rPr lang="bg-BG" smtClean="0"/>
              <a:t>11.5.2026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62399" y="5870575"/>
            <a:ext cx="4893958" cy="377825"/>
          </a:xfrm>
        </p:spPr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08958" y="5870575"/>
            <a:ext cx="551167" cy="377825"/>
          </a:xfrm>
        </p:spPr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07237651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11.5.2026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1405331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308581"/>
            <a:ext cx="10131427" cy="1468800"/>
          </a:xfrm>
        </p:spPr>
        <p:txBody>
          <a:bodyPr anchor="b"/>
          <a:lstStyle>
            <a:lvl1pPr algn="l">
              <a:defRPr sz="4000" b="0" cap="all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7381"/>
            <a:ext cx="1013142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 cap="all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11.5.2026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7351523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2" y="2142067"/>
            <a:ext cx="4995334" cy="3649134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21895" y="2142067"/>
            <a:ext cx="4995332" cy="3649133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11.5.2026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1507965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3670" y="2218267"/>
            <a:ext cx="470905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1" y="2870201"/>
            <a:ext cx="4996923" cy="2920998"/>
          </a:xfrm>
        </p:spPr>
        <p:txBody>
          <a:bodyPr anchor="t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96003" y="2226734"/>
            <a:ext cx="4722813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23483" y="2870201"/>
            <a:ext cx="4995334" cy="2920998"/>
          </a:xfrm>
        </p:spPr>
        <p:txBody>
          <a:bodyPr anchor="t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11.5.2026 г.</a:t>
            </a:fld>
            <a:endParaRPr lang="bg-B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3610086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11.5.2026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8439158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11.5.2026 г.</a:t>
            </a:fld>
            <a:endParaRPr lang="bg-BG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5628621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074333"/>
            <a:ext cx="3680885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48201" y="609601"/>
            <a:ext cx="6169026" cy="5181600"/>
          </a:xfrm>
        </p:spPr>
        <p:txBody>
          <a:bodyPr anchor="ctr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445933"/>
            <a:ext cx="3680885" cy="1828800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11.5.2026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6842191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600200"/>
            <a:ext cx="6164653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36253" y="914400"/>
            <a:ext cx="3280974" cy="4572000"/>
          </a:xfrm>
          <a:prstGeom prst="roundRect">
            <a:avLst>
              <a:gd name="adj" fmla="val 42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2971800"/>
            <a:ext cx="6164653" cy="1828800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11.5.2026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0709396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732865"/>
            <a:ext cx="1013142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1600" y="932112"/>
            <a:ext cx="8759827" cy="3164976"/>
          </a:xfrm>
          <a:prstGeom prst="roundRect">
            <a:avLst>
              <a:gd name="adj" fmla="val 43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299603"/>
            <a:ext cx="10131427" cy="49371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11.5.2026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2280442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3124199"/>
          </a:xfrm>
        </p:spPr>
        <p:txBody>
          <a:bodyPr anchor="ctr">
            <a:normAutofit/>
          </a:bodyPr>
          <a:lstStyle>
            <a:lvl1pPr algn="l">
              <a:defRPr sz="32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11.5.2026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1907421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97875" y="3352800"/>
            <a:ext cx="9339184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7465" y="4343400"/>
            <a:ext cx="10152367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11.5.2026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105152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2" y="3308581"/>
            <a:ext cx="10131425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4777381"/>
            <a:ext cx="10131426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11.5.2026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46217399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0" y="3886200"/>
            <a:ext cx="10135436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5200"/>
            <a:ext cx="10135436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11.5.2026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89688820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1" y="3505200"/>
            <a:ext cx="10131428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11.5.2026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5385461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11.5.2026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14437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8675" y="609599"/>
            <a:ext cx="2158552" cy="5181601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09600"/>
            <a:ext cx="7832116" cy="5181600"/>
          </a:xfrm>
        </p:spPr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11.5.2026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5416558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2142067"/>
            <a:ext cx="10131425" cy="36491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96B30504-7B8C-417C-9E68-353FFE08AE4F}" type="datetimeFigureOut">
              <a:rPr lang="bg-BG" smtClean="0"/>
              <a:t>11.5.2026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55973758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06" r:id="rId1"/>
    <p:sldLayoutId id="2147483907" r:id="rId2"/>
    <p:sldLayoutId id="2147483908" r:id="rId3"/>
    <p:sldLayoutId id="2147483909" r:id="rId4"/>
    <p:sldLayoutId id="2147483910" r:id="rId5"/>
    <p:sldLayoutId id="2147483911" r:id="rId6"/>
    <p:sldLayoutId id="2147483912" r:id="rId7"/>
    <p:sldLayoutId id="2147483913" r:id="rId8"/>
    <p:sldLayoutId id="2147483914" r:id="rId9"/>
    <p:sldLayoutId id="2147483915" r:id="rId10"/>
    <p:sldLayoutId id="2147483916" r:id="rId11"/>
    <p:sldLayoutId id="2147483917" r:id="rId12"/>
    <p:sldLayoutId id="2147483918" r:id="rId13"/>
    <p:sldLayoutId id="2147483919" r:id="rId14"/>
    <p:sldLayoutId id="2147483920" r:id="rId15"/>
    <p:sldLayoutId id="2147483921" r:id="rId16"/>
    <p:sldLayoutId id="2147483922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9353" y="729205"/>
            <a:ext cx="10160256" cy="1111170"/>
          </a:xfrm>
        </p:spPr>
        <p:txBody>
          <a:bodyPr>
            <a:normAutofit fontScale="90000"/>
          </a:bodyPr>
          <a:lstStyle/>
          <a:p>
            <a:r>
              <a:rPr lang="bg-BG" sz="2400" b="1" dirty="0"/>
              <a:t>Държавен изпит за придобиване на трета степен на професионална квалификация – част по теория на професията</a:t>
            </a:r>
            <a:r>
              <a:rPr lang="bg-BG" sz="2400" dirty="0"/>
              <a:t/>
            </a:r>
            <a:br>
              <a:rPr lang="bg-BG" sz="2400" dirty="0"/>
            </a:br>
            <a:endParaRPr lang="bg-BG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53286" y="5827123"/>
            <a:ext cx="2266323" cy="891980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bg-BG" b="1" dirty="0" smtClean="0">
                <a:solidFill>
                  <a:schemeClr val="tx1">
                    <a:lumMod val="85000"/>
                  </a:schemeClr>
                </a:solidFill>
              </a:rPr>
              <a:t>Дипломант:</a:t>
            </a:r>
          </a:p>
          <a:p>
            <a:pPr marL="0" indent="0">
              <a:buNone/>
            </a:pPr>
            <a:r>
              <a:rPr lang="bg-BG" b="1" dirty="0" smtClean="0">
                <a:solidFill>
                  <a:schemeClr val="tx1">
                    <a:lumMod val="85000"/>
                  </a:schemeClr>
                </a:solidFill>
              </a:rPr>
              <a:t>Мартин Иванов</a:t>
            </a:r>
            <a:endParaRPr lang="bg-BG" b="1" dirty="0">
              <a:solidFill>
                <a:schemeClr val="tx1">
                  <a:lumMod val="85000"/>
                </a:schemeClr>
              </a:solidFill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92193" y="247425"/>
            <a:ext cx="4456254" cy="1511927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9044" y="1924526"/>
            <a:ext cx="8148576" cy="4701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78481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66755" y="609600"/>
            <a:ext cx="9150472" cy="1456267"/>
          </a:xfrm>
        </p:spPr>
        <p:txBody>
          <a:bodyPr/>
          <a:lstStyle/>
          <a:p>
            <a:r>
              <a:rPr lang="bg-BG" b="1" dirty="0"/>
              <a:t>Въведение и актуалност</a:t>
            </a:r>
            <a:endParaRPr lang="bg-BG" dirty="0"/>
          </a:p>
        </p:txBody>
      </p:sp>
      <p:pic>
        <p:nvPicPr>
          <p:cNvPr id="8" name="Content Placeholder 7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1803" y="1818492"/>
            <a:ext cx="4616209" cy="5039508"/>
          </a:xfrm>
        </p:spPr>
      </p:pic>
      <p:sp>
        <p:nvSpPr>
          <p:cNvPr id="3" name="TextBox 2"/>
          <p:cNvSpPr txBox="1"/>
          <p:nvPr/>
        </p:nvSpPr>
        <p:spPr>
          <a:xfrm>
            <a:off x="5843125" y="2533980"/>
            <a:ext cx="56600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800" b="1" dirty="0" smtClean="0"/>
              <a:t>.</a:t>
            </a:r>
            <a:r>
              <a:rPr lang="ru-RU" sz="3600" b="1" dirty="0" smtClean="0"/>
              <a:t>Динамично ежедневие</a:t>
            </a:r>
            <a:endParaRPr lang="ru-RU" sz="3600" b="1" dirty="0"/>
          </a:p>
        </p:txBody>
      </p:sp>
      <p:sp>
        <p:nvSpPr>
          <p:cNvPr id="4" name="TextBox 3"/>
          <p:cNvSpPr txBox="1"/>
          <p:nvPr/>
        </p:nvSpPr>
        <p:spPr>
          <a:xfrm>
            <a:off x="5854700" y="3364977"/>
            <a:ext cx="47983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4800" b="1" dirty="0" smtClean="0"/>
              <a:t>.</a:t>
            </a:r>
            <a:r>
              <a:rPr lang="en-US" sz="4000" b="1" dirty="0" err="1" smtClean="0"/>
              <a:t>Iot</a:t>
            </a:r>
            <a:r>
              <a:rPr lang="en-US" sz="4000" b="1" dirty="0" smtClean="0"/>
              <a:t> </a:t>
            </a:r>
            <a:r>
              <a:rPr lang="bg-BG" sz="4000" b="1" dirty="0"/>
              <a:t>интеграция</a:t>
            </a:r>
            <a:endParaRPr lang="bg-BG" sz="4000" dirty="0"/>
          </a:p>
        </p:txBody>
      </p:sp>
      <p:sp>
        <p:nvSpPr>
          <p:cNvPr id="5" name="TextBox 4"/>
          <p:cNvSpPr txBox="1"/>
          <p:nvPr/>
        </p:nvSpPr>
        <p:spPr>
          <a:xfrm>
            <a:off x="5843125" y="4338246"/>
            <a:ext cx="461110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 smtClean="0"/>
              <a:t>.</a:t>
            </a:r>
            <a:r>
              <a:rPr lang="bg-BG" sz="3600" b="1" dirty="0" smtClean="0"/>
              <a:t>Оптимизация </a:t>
            </a:r>
            <a:r>
              <a:rPr lang="bg-BG" sz="3600" b="1" dirty="0"/>
              <a:t>на работата</a:t>
            </a:r>
            <a:endParaRPr lang="bg-BG" sz="3600" dirty="0"/>
          </a:p>
        </p:txBody>
      </p:sp>
    </p:spTree>
    <p:extLst>
      <p:ext uri="{BB962C8B-B14F-4D97-AF65-F5344CB8AC3E}">
        <p14:creationId xmlns:p14="http://schemas.microsoft.com/office/powerpoint/2010/main" val="16038517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4288593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9590006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914401" y="2010144"/>
            <a:ext cx="10706582" cy="298543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ctr">
              <a:buFont typeface="Wingdings" panose="05000000000000000000" pitchFamily="2" charset="2"/>
              <a:buChar char="q"/>
            </a:pPr>
            <a:r>
              <a:rPr lang="ru-RU" sz="2400" b="1" dirty="0" smtClean="0">
                <a:latin typeface="D-DINExp"/>
              </a:rPr>
              <a:t>Разработване </a:t>
            </a:r>
            <a:r>
              <a:rPr lang="ru-RU" sz="2400" b="1" dirty="0">
                <a:latin typeface="D-DINExp"/>
              </a:rPr>
              <a:t>на софтуерно решение: Създаване на система за дистанционно управление на десктоп </a:t>
            </a:r>
            <a:r>
              <a:rPr lang="ru-RU" sz="2400" b="1" dirty="0" smtClean="0">
                <a:latin typeface="D-DINExp"/>
              </a:rPr>
              <a:t>приложения. </a:t>
            </a:r>
            <a:endParaRPr lang="ru-RU" sz="2400" b="1" dirty="0">
              <a:latin typeface="D-DINExp"/>
            </a:endParaRPr>
          </a:p>
          <a:p>
            <a:pPr marL="342900" indent="-342900" algn="ctr">
              <a:buFont typeface="Wingdings" panose="05000000000000000000" pitchFamily="2" charset="2"/>
              <a:buChar char="q"/>
            </a:pPr>
            <a:endParaRPr lang="ru-RU" b="1" dirty="0" smtClean="0">
              <a:latin typeface="D-DINExp"/>
            </a:endParaRPr>
          </a:p>
          <a:p>
            <a:pPr marL="457200" indent="-457200" algn="ctr">
              <a:buFont typeface="Wingdings" panose="05000000000000000000" pitchFamily="2" charset="2"/>
              <a:buChar char="q"/>
            </a:pPr>
            <a:r>
              <a:rPr lang="ru-RU" sz="2400" b="1" dirty="0" smtClean="0">
                <a:latin typeface="D-DINExp"/>
              </a:rPr>
              <a:t>Достъпност </a:t>
            </a:r>
            <a:r>
              <a:rPr lang="ru-RU" sz="2400" b="1" dirty="0">
                <a:latin typeface="D-DINExp"/>
              </a:rPr>
              <a:t>и удобство: Осигуряване на пълен контрол през Wi-Fi </a:t>
            </a:r>
            <a:r>
              <a:rPr lang="ru-RU" sz="2400" b="1" dirty="0" smtClean="0">
                <a:latin typeface="D-DINExp"/>
              </a:rPr>
              <a:t>мрежа</a:t>
            </a:r>
            <a:r>
              <a:rPr lang="ru-RU" sz="2400" dirty="0" smtClean="0">
                <a:latin typeface="D-DINExp"/>
              </a:rPr>
              <a:t>.</a:t>
            </a:r>
            <a:endParaRPr lang="ru-RU" sz="2400" dirty="0">
              <a:latin typeface="D-DINExp"/>
            </a:endParaRPr>
          </a:p>
          <a:p>
            <a:pPr marL="342900" indent="-342900" algn="ctr">
              <a:buFont typeface="Wingdings" panose="05000000000000000000" pitchFamily="2" charset="2"/>
              <a:buChar char="q"/>
            </a:pPr>
            <a:endParaRPr lang="ru-RU" b="1" dirty="0" smtClean="0">
              <a:latin typeface="D-DINExp"/>
            </a:endParaRPr>
          </a:p>
          <a:p>
            <a:pPr marL="514350" indent="-514350" algn="ctr">
              <a:buFont typeface="Wingdings" panose="05000000000000000000" pitchFamily="2" charset="2"/>
              <a:buChar char="q"/>
            </a:pPr>
            <a:r>
              <a:rPr lang="ru-RU" sz="2800" dirty="0" smtClean="0">
                <a:latin typeface="D-DINExp"/>
              </a:rPr>
              <a:t>Ефективна </a:t>
            </a:r>
            <a:r>
              <a:rPr lang="ru-RU" sz="2800" dirty="0">
                <a:latin typeface="D-DINExp"/>
              </a:rPr>
              <a:t>интеграция: Постигане на бърза и сигурна връзка между мобилния браузър и </a:t>
            </a:r>
            <a:r>
              <a:rPr lang="ru-RU" sz="2800" dirty="0" smtClean="0">
                <a:latin typeface="D-DINExp"/>
              </a:rPr>
              <a:t>сървърната.</a:t>
            </a:r>
            <a:endParaRPr lang="ru-RU" sz="2800" i="0" dirty="0">
              <a:effectLst/>
              <a:latin typeface="D-DINExp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240911" y="181343"/>
            <a:ext cx="47340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bg-BG" b="1" dirty="0" smtClean="0"/>
              <a:t> </a:t>
            </a:r>
            <a:r>
              <a:rPr lang="bg-BG" sz="2800" b="1" dirty="0"/>
              <a:t>Цел на проекта</a:t>
            </a:r>
            <a:endParaRPr lang="bg-BG" sz="2800" dirty="0"/>
          </a:p>
        </p:txBody>
      </p:sp>
    </p:spTree>
    <p:extLst>
      <p:ext uri="{BB962C8B-B14F-4D97-AF65-F5344CB8AC3E}">
        <p14:creationId xmlns:p14="http://schemas.microsoft.com/office/powerpoint/2010/main" val="22664128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79674" y="4502552"/>
            <a:ext cx="6632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ctr">
              <a:buFont typeface="Wingdings" panose="05000000000000000000" pitchFamily="2" charset="2"/>
              <a:buChar char="§"/>
            </a:pPr>
            <a:endParaRPr lang="bg-BG" b="1" dirty="0"/>
          </a:p>
        </p:txBody>
      </p:sp>
      <p:sp>
        <p:nvSpPr>
          <p:cNvPr id="4" name="TextBox 3"/>
          <p:cNvSpPr txBox="1"/>
          <p:nvPr/>
        </p:nvSpPr>
        <p:spPr>
          <a:xfrm>
            <a:off x="3518701" y="0"/>
            <a:ext cx="42826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bg-BG" sz="2800" b="1" dirty="0"/>
              <a:t>Основни </a:t>
            </a:r>
            <a:r>
              <a:rPr lang="bg-BG" sz="2800" b="1" dirty="0" smtClean="0"/>
              <a:t>задачи:</a:t>
            </a:r>
            <a:endParaRPr lang="bg-BG" sz="2800" dirty="0"/>
          </a:p>
        </p:txBody>
      </p:sp>
      <p:sp>
        <p:nvSpPr>
          <p:cNvPr id="5" name="TextBox 4"/>
          <p:cNvSpPr txBox="1"/>
          <p:nvPr/>
        </p:nvSpPr>
        <p:spPr>
          <a:xfrm>
            <a:off x="3703898" y="4687218"/>
            <a:ext cx="3449256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ctr">
              <a:buFont typeface="Courier New" panose="02070309020205020404" pitchFamily="49" charset="0"/>
              <a:buChar char="o"/>
            </a:pPr>
            <a:r>
              <a:rPr lang="bg-BG" sz="2000" b="1" dirty="0"/>
              <a:t>Проектиране</a:t>
            </a:r>
            <a:endParaRPr lang="bg-BG" sz="2000" dirty="0"/>
          </a:p>
          <a:p>
            <a:pPr marL="342900" indent="-342900" algn="ctr">
              <a:buFont typeface="Courier New" panose="02070309020205020404" pitchFamily="49" charset="0"/>
              <a:buChar char="o"/>
            </a:pPr>
            <a:r>
              <a:rPr lang="bg-BG" sz="2000" b="1" dirty="0"/>
              <a:t>Разработка</a:t>
            </a:r>
            <a:endParaRPr lang="bg-BG" sz="2000" dirty="0"/>
          </a:p>
          <a:p>
            <a:pPr marL="342900" indent="-342900" algn="ctr">
              <a:buFont typeface="Courier New" panose="02070309020205020404" pitchFamily="49" charset="0"/>
              <a:buChar char="o"/>
            </a:pPr>
            <a:r>
              <a:rPr lang="bg-BG" sz="2000" b="1" dirty="0"/>
              <a:t>Интеграция</a:t>
            </a:r>
            <a:endParaRPr lang="bg-BG" sz="2000" dirty="0"/>
          </a:p>
          <a:p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11362908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window dir="ver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561" y="424405"/>
            <a:ext cx="10131425" cy="1456267"/>
          </a:xfrm>
        </p:spPr>
        <p:txBody>
          <a:bodyPr/>
          <a:lstStyle/>
          <a:p>
            <a:pPr algn="ctr"/>
            <a:r>
              <a:rPr lang="bg-BG" b="1" dirty="0"/>
              <a:t>Архитектура на системата</a:t>
            </a:r>
            <a:endParaRPr lang="bg-BG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1539433"/>
            <a:ext cx="7720315" cy="5318567"/>
          </a:xfrm>
        </p:spPr>
      </p:pic>
      <p:sp>
        <p:nvSpPr>
          <p:cNvPr id="5" name="TextBox 4"/>
          <p:cNvSpPr txBox="1"/>
          <p:nvPr/>
        </p:nvSpPr>
        <p:spPr>
          <a:xfrm>
            <a:off x="7905509" y="1979271"/>
            <a:ext cx="4074288" cy="4678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ctr">
              <a:buFont typeface="Wingdings" panose="05000000000000000000" pitchFamily="2" charset="2"/>
              <a:buChar char="Ø"/>
            </a:pPr>
            <a:r>
              <a:rPr lang="ru-RU" sz="2000" b="1" dirty="0"/>
              <a:t>Модел Сървър-Клиент: Десктоп приложението действа като хост, обслужващ заявките от телефона.</a:t>
            </a:r>
          </a:p>
          <a:p>
            <a:pPr marL="342900" indent="-342900" algn="ctr">
              <a:buFont typeface="Wingdings" panose="05000000000000000000" pitchFamily="2" charset="2"/>
              <a:buChar char="Ø"/>
            </a:pPr>
            <a:endParaRPr lang="ru-RU" sz="2000" b="1" dirty="0" smtClean="0"/>
          </a:p>
          <a:p>
            <a:pPr marL="342900" indent="-342900" algn="ctr">
              <a:buFont typeface="Wingdings" panose="05000000000000000000" pitchFamily="2" charset="2"/>
              <a:buChar char="Ø"/>
            </a:pPr>
            <a:r>
              <a:rPr lang="ru-RU" sz="2000" b="1" dirty="0" smtClean="0"/>
              <a:t>Wi-Fi </a:t>
            </a:r>
            <a:r>
              <a:rPr lang="ru-RU" sz="2000" b="1" dirty="0"/>
              <a:t>комуникация: Използване на стандартни мрежови протоколи за пренос на данни в реално време.</a:t>
            </a:r>
          </a:p>
          <a:p>
            <a:pPr marL="342900" indent="-342900" algn="ctr">
              <a:buFont typeface="Wingdings" panose="05000000000000000000" pitchFamily="2" charset="2"/>
              <a:buChar char="Ø"/>
            </a:pPr>
            <a:endParaRPr lang="ru-RU" sz="2000" b="1" dirty="0" smtClean="0"/>
          </a:p>
          <a:p>
            <a:pPr marL="342900" indent="-342900" algn="ctr">
              <a:buFont typeface="Wingdings" panose="05000000000000000000" pitchFamily="2" charset="2"/>
              <a:buChar char="Ø"/>
            </a:pPr>
            <a:r>
              <a:rPr lang="ru-RU" sz="2000" b="1" dirty="0" smtClean="0"/>
              <a:t>Директна </a:t>
            </a:r>
            <a:r>
              <a:rPr lang="ru-RU" sz="2000" b="1" dirty="0"/>
              <a:t>връзка: Осигуряване на ниска латентност и бърза реакция при подаване на команди.</a:t>
            </a:r>
          </a:p>
          <a:p>
            <a:pPr marL="285750" indent="-285750" algn="ctr">
              <a:buFont typeface="Wingdings" panose="05000000000000000000" pitchFamily="2" charset="2"/>
              <a:buChar char="Ø"/>
            </a:pP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42314744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bg-BG" b="1" dirty="0"/>
              <a:t>Потребителски интерфейс (UI)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arenR"/>
            </a:pPr>
            <a:r>
              <a:rPr lang="ru-RU" sz="2000" b="1" dirty="0"/>
              <a:t>Адаптивен дизайн: Интерфейсът се напасва автоматично към различни размери на екрани и мобилни устройства.</a:t>
            </a:r>
          </a:p>
          <a:p>
            <a:pPr marL="457200" indent="-457200">
              <a:buFont typeface="+mj-lt"/>
              <a:buAutoNum type="arabicParenR"/>
            </a:pPr>
            <a:r>
              <a:rPr lang="ru-RU" sz="2000" b="1" dirty="0"/>
              <a:t>Интуитивни контроли: Изчистена подредба на бутоните за бърз достъп до основните функции.</a:t>
            </a:r>
          </a:p>
          <a:p>
            <a:pPr marL="457200" indent="-457200">
              <a:buFont typeface="+mj-lt"/>
              <a:buAutoNum type="arabicParenR"/>
            </a:pPr>
            <a:r>
              <a:rPr lang="ru-RU" sz="2000" b="1" dirty="0"/>
              <a:t>Лесна навигация: Минималистичен стил, който гарантира удобство при работа с една ръка.</a:t>
            </a:r>
          </a:p>
          <a:p>
            <a:pPr marL="457200" indent="-457200">
              <a:buFont typeface="+mj-lt"/>
              <a:buAutoNum type="arabicParenR"/>
            </a:pPr>
            <a:endParaRPr lang="bg-BG" sz="2000" b="1" dirty="0"/>
          </a:p>
        </p:txBody>
      </p:sp>
    </p:spTree>
    <p:extLst>
      <p:ext uri="{BB962C8B-B14F-4D97-AF65-F5344CB8AC3E}">
        <p14:creationId xmlns:p14="http://schemas.microsoft.com/office/powerpoint/2010/main" val="14273723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13387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bg-BG" b="1" dirty="0"/>
              <a:t>Тестване и верификация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 algn="ctr">
              <a:buFont typeface="+mj-lt"/>
              <a:buAutoNum type="alphaLcParenR"/>
            </a:pPr>
            <a:r>
              <a:rPr lang="ru-RU" sz="2000" b="1" dirty="0"/>
              <a:t>Функционално тестване: Проверка на коректното изпълнение на всички команди от мобилния браузър.</a:t>
            </a:r>
          </a:p>
          <a:p>
            <a:pPr marL="457200" indent="-457200" algn="ctr">
              <a:buFont typeface="+mj-lt"/>
              <a:buAutoNum type="alphaLcParenR"/>
            </a:pPr>
            <a:r>
              <a:rPr lang="ru-RU" sz="2000" b="1" dirty="0"/>
              <a:t>Оптимизация на връзката: Анализ на бързината и стабилността на предаване на данни през Wi-Fi.</a:t>
            </a:r>
          </a:p>
          <a:p>
            <a:pPr marL="457200" indent="-457200" algn="ctr">
              <a:buFont typeface="+mj-lt"/>
              <a:buAutoNum type="alphaLcParenR"/>
            </a:pPr>
            <a:r>
              <a:rPr lang="ru-RU" sz="2000" b="1" dirty="0"/>
              <a:t>Валидиране на интерфейса: Тестване на адаптивността на дизайна върху различни мобилни екрани.</a:t>
            </a:r>
          </a:p>
          <a:p>
            <a:pPr marL="0" indent="0">
              <a:buNone/>
            </a:pPr>
            <a:r>
              <a:rPr lang="ru-RU" dirty="0"/>
              <a:t/>
            </a:r>
            <a:br>
              <a:rPr lang="ru-RU" dirty="0"/>
            </a:b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20526802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8418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40329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24223" y="3044142"/>
            <a:ext cx="708370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bg-BG" sz="4400" dirty="0" smtClean="0"/>
              <a:t>Благодаря за Вниманието</a:t>
            </a:r>
            <a:endParaRPr lang="bg-BG" sz="4400" dirty="0"/>
          </a:p>
        </p:txBody>
      </p:sp>
    </p:spTree>
    <p:extLst>
      <p:ext uri="{BB962C8B-B14F-4D97-AF65-F5344CB8AC3E}">
        <p14:creationId xmlns:p14="http://schemas.microsoft.com/office/powerpoint/2010/main" val="13205432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644"/>
    </mc:Choice>
    <mc:Fallback xmlns="">
      <p:transition spd="slow" advTm="1644"/>
    </mc:Fallback>
  </mc:AlternateContent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elestial">
  <a:themeElements>
    <a:clrScheme name="Celestial">
      <a:dk1>
        <a:sysClr val="windowText" lastClr="000000"/>
      </a:dk1>
      <a:lt1>
        <a:sysClr val="window" lastClr="FFFFFF"/>
      </a:lt1>
      <a:dk2>
        <a:srgbClr val="18276C"/>
      </a:dk2>
      <a:lt2>
        <a:srgbClr val="EBEBEB"/>
      </a:lt2>
      <a:accent1>
        <a:srgbClr val="AC3EC1"/>
      </a:accent1>
      <a:accent2>
        <a:srgbClr val="477BD1"/>
      </a:accent2>
      <a:accent3>
        <a:srgbClr val="46B298"/>
      </a:accent3>
      <a:accent4>
        <a:srgbClr val="90BA4C"/>
      </a:accent4>
      <a:accent5>
        <a:srgbClr val="DD9D31"/>
      </a:accent5>
      <a:accent6>
        <a:srgbClr val="E25247"/>
      </a:accent6>
      <a:hlink>
        <a:srgbClr val="C573D2"/>
      </a:hlink>
      <a:folHlink>
        <a:srgbClr val="CCAEE8"/>
      </a:folHlink>
    </a:clrScheme>
    <a:fontScheme name="Celestial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elestial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lumMod val="110000"/>
              </a:schemeClr>
            </a:gs>
            <a:gs pos="100000">
              <a:schemeClr val="phClr">
                <a:tint val="82000"/>
                <a:alpha val="7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0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1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5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6000"/>
                <a:hueMod val="100000"/>
                <a:satMod val="180000"/>
                <a:lumMod val="110000"/>
              </a:schemeClr>
            </a:gs>
            <a:gs pos="100000">
              <a:schemeClr val="phClr">
                <a:shade val="96000"/>
                <a:satMod val="160000"/>
                <a:lumMod val="100000"/>
              </a:schemeClr>
            </a:gs>
          </a:gsLst>
          <a:lin ang="4740000" scaled="1"/>
        </a:gradFill>
        <a:blipFill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elestial" id="{C4BB2A3D-0E93-4C5F-B0D2-9D3FCE089CC5}" vid="{42E5908D-19A2-46FD-89FA-638B126129E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TM03457452[[fn=Celestial]]</Template>
  <TotalTime>437</TotalTime>
  <Words>364</Words>
  <Application>Microsoft Office PowerPoint</Application>
  <PresentationFormat>Widescreen</PresentationFormat>
  <Paragraphs>64</Paragraphs>
  <Slides>13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Arial</vt:lpstr>
      <vt:lpstr>Calibri</vt:lpstr>
      <vt:lpstr>Calibri Light</vt:lpstr>
      <vt:lpstr>Courier New</vt:lpstr>
      <vt:lpstr>D-DINExp</vt:lpstr>
      <vt:lpstr>Wingdings</vt:lpstr>
      <vt:lpstr>Celestial</vt:lpstr>
      <vt:lpstr>Държавен изпит за придобиване на трета степен на професионална квалификация – част по теория на професията </vt:lpstr>
      <vt:lpstr>Въведение и актуалност</vt:lpstr>
      <vt:lpstr>PowerPoint Presentation</vt:lpstr>
      <vt:lpstr>PowerPoint Presentation</vt:lpstr>
      <vt:lpstr>PowerPoint Presentation</vt:lpstr>
      <vt:lpstr>PowerPoint Presentation</vt:lpstr>
      <vt:lpstr>Архитектура на системата</vt:lpstr>
      <vt:lpstr>Потребителски интерфейс (UI)</vt:lpstr>
      <vt:lpstr>PowerPoint Presentation</vt:lpstr>
      <vt:lpstr>Тестване и верификация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admin</cp:lastModifiedBy>
  <cp:revision>35</cp:revision>
  <dcterms:created xsi:type="dcterms:W3CDTF">2026-04-27T09:16:50Z</dcterms:created>
  <dcterms:modified xsi:type="dcterms:W3CDTF">2026-05-11T09:25:57Z</dcterms:modified>
</cp:coreProperties>
</file>